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4" r:id="rId9"/>
    <p:sldId id="276" r:id="rId10"/>
    <p:sldId id="275" r:id="rId11"/>
    <p:sldId id="273" r:id="rId12"/>
    <p:sldId id="264" r:id="rId13"/>
    <p:sldId id="272" r:id="rId14"/>
    <p:sldId id="271" r:id="rId15"/>
    <p:sldId id="270" r:id="rId16"/>
    <p:sldId id="281" r:id="rId17"/>
    <p:sldId id="282" r:id="rId18"/>
    <p:sldId id="283" r:id="rId19"/>
    <p:sldId id="280" r:id="rId20"/>
    <p:sldId id="279" r:id="rId21"/>
    <p:sldId id="265" r:id="rId22"/>
    <p:sldId id="278" r:id="rId23"/>
    <p:sldId id="266" r:id="rId24"/>
    <p:sldId id="267" r:id="rId25"/>
    <p:sldId id="268" r:id="rId26"/>
    <p:sldId id="269" r:id="rId27"/>
    <p:sldId id="277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4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7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064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4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4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4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7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6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5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6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6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02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680DBFD-548B-B982-AC6E-592B759D1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657" y="217714"/>
            <a:ext cx="9154885" cy="1918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9F9E7E-68AB-B5E1-3EA6-95CFD10D8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035629" cy="2427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1967A-F61F-1ED8-0A5B-A0751B40E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970" y="3429000"/>
            <a:ext cx="3390030" cy="3429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B4EC95DB-1464-551D-8298-4E4A269D8F5D}"/>
              </a:ext>
            </a:extLst>
          </p:cNvPr>
          <p:cNvSpPr txBox="1">
            <a:spLocks/>
          </p:cNvSpPr>
          <p:nvPr/>
        </p:nvSpPr>
        <p:spPr>
          <a:xfrm>
            <a:off x="5283841" y="2494315"/>
            <a:ext cx="2797630" cy="576943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Arial Black" panose="020B0A04020102020204" pitchFamily="34" charset="0"/>
                <a:cs typeface="Segoe UI Semibold" panose="020B0702040204020203" pitchFamily="34" charset="0"/>
              </a:rPr>
              <a:t>PROJECT 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F4170-4609-892B-DDF1-122EB1B51815}"/>
              </a:ext>
            </a:extLst>
          </p:cNvPr>
          <p:cNvSpPr txBox="1"/>
          <p:nvPr/>
        </p:nvSpPr>
        <p:spPr>
          <a:xfrm>
            <a:off x="2091301" y="3394304"/>
            <a:ext cx="8645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 Hospital Patient Care Operations Analysis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n-IN" sz="1200" dirty="0"/>
              <a:t>A DATABASE AND DATA ANALYTICS PROJECT USING MYSQL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536399-497A-6825-DB1A-FE2FFB6ECB7B}"/>
              </a:ext>
            </a:extLst>
          </p:cNvPr>
          <p:cNvSpPr txBox="1"/>
          <p:nvPr/>
        </p:nvSpPr>
        <p:spPr>
          <a:xfrm>
            <a:off x="4121674" y="4589502"/>
            <a:ext cx="53741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Segoe UI Variable Display Semib" pitchFamily="2" charset="0"/>
              </a:rPr>
              <a:t>                        </a:t>
            </a:r>
            <a:r>
              <a:rPr lang="en-IN" sz="2400" b="1" dirty="0">
                <a:solidFill>
                  <a:srgbClr val="FF0000"/>
                </a:solidFill>
                <a:latin typeface="Segoe UI Variable Display Semib" pitchFamily="2" charset="0"/>
              </a:rPr>
              <a:t>Presented By</a:t>
            </a:r>
          </a:p>
          <a:p>
            <a:endParaRPr lang="en-IN" dirty="0"/>
          </a:p>
          <a:p>
            <a:r>
              <a:rPr lang="en-IN" sz="2400" dirty="0">
                <a:latin typeface="Segoe UI Variable Display Semib" pitchFamily="2" charset="0"/>
              </a:rPr>
              <a:t>          Prasanna Panchumarthi</a:t>
            </a:r>
          </a:p>
        </p:txBody>
      </p:sp>
    </p:spTree>
    <p:extLst>
      <p:ext uri="{BB962C8B-B14F-4D97-AF65-F5344CB8AC3E}">
        <p14:creationId xmlns:p14="http://schemas.microsoft.com/office/powerpoint/2010/main" val="3535235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37B4C6E8-664E-CA2F-6F78-BCF44FF9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07E558-E100-4E88-1F1E-658B3B5ABE6D}"/>
              </a:ext>
            </a:extLst>
          </p:cNvPr>
          <p:cNvSpPr txBox="1"/>
          <p:nvPr/>
        </p:nvSpPr>
        <p:spPr>
          <a:xfrm>
            <a:off x="0" y="484591"/>
            <a:ext cx="12192000" cy="5182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b="1" dirty="0">
              <a:latin typeface="Segoe UI Variable Display Semib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Objective of the Project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Database Structure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ER Diagram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Key Analysis Questions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Business Insights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Challenges / Experience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Conclusion</a:t>
            </a:r>
          </a:p>
        </p:txBody>
      </p:sp>
      <p:sp>
        <p:nvSpPr>
          <p:cNvPr id="6" name="Google Shape;110;p4">
            <a:extLst>
              <a:ext uri="{FF2B5EF4-FFF2-40B4-BE49-F238E27FC236}">
                <a16:creationId xmlns:a16="http://schemas.microsoft.com/office/drawing/2014/main" id="{C09E74E8-A11E-4265-723F-753FBF038749}"/>
              </a:ext>
            </a:extLst>
          </p:cNvPr>
          <p:cNvSpPr txBox="1">
            <a:spLocks/>
          </p:cNvSpPr>
          <p:nvPr/>
        </p:nvSpPr>
        <p:spPr>
          <a:xfrm>
            <a:off x="0" y="61011"/>
            <a:ext cx="2759242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Bef>
                <a:spcPts val="0"/>
              </a:spcBef>
              <a:buClr>
                <a:srgbClr val="FF0000"/>
              </a:buClr>
              <a:buSzPts val="4400"/>
              <a:buFont typeface="Calibri"/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3774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6C79-0DD6-E863-F894-84D0C9D7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89F46EEF-6727-86F0-F669-1BC6222AE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8" name="Google Shape;110;p4">
            <a:extLst>
              <a:ext uri="{FF2B5EF4-FFF2-40B4-BE49-F238E27FC236}">
                <a16:creationId xmlns:a16="http://schemas.microsoft.com/office/drawing/2014/main" id="{5111F2A7-24F8-F60B-964C-9CF5EF10E93C}"/>
              </a:ext>
            </a:extLst>
          </p:cNvPr>
          <p:cNvSpPr txBox="1">
            <a:spLocks/>
          </p:cNvSpPr>
          <p:nvPr/>
        </p:nvSpPr>
        <p:spPr>
          <a:xfrm>
            <a:off x="239411" y="131923"/>
            <a:ext cx="8182695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dirty="0">
                <a:solidFill>
                  <a:srgbClr val="C00000"/>
                </a:solidFill>
              </a:rPr>
              <a:t>Objective of the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992585-B42E-C9EB-4EC2-0259CE22BA72}"/>
              </a:ext>
            </a:extLst>
          </p:cNvPr>
          <p:cNvSpPr txBox="1"/>
          <p:nvPr/>
        </p:nvSpPr>
        <p:spPr>
          <a:xfrm>
            <a:off x="393030" y="1422591"/>
            <a:ext cx="108421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relational database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CarePlus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using MySQL.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and organize data related to patients, doctors, rooms, appointments, and treatments.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relationships and data integrity using Primary Keys and Foreign Keys.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operations and identify important patterns using SQL queries.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meaningful insights that support better operational decision-making in the hospital.</a:t>
            </a:r>
          </a:p>
        </p:txBody>
      </p:sp>
    </p:spTree>
    <p:extLst>
      <p:ext uri="{BB962C8B-B14F-4D97-AF65-F5344CB8AC3E}">
        <p14:creationId xmlns:p14="http://schemas.microsoft.com/office/powerpoint/2010/main" val="60611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DAAE-485B-5F7F-B690-36D2AA9D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7392CD2B-DCCB-F10A-B9CA-E8C09EDC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514DA936-8470-FC4E-676B-B83F7835C8E7}"/>
              </a:ext>
            </a:extLst>
          </p:cNvPr>
          <p:cNvSpPr txBox="1">
            <a:spLocks/>
          </p:cNvSpPr>
          <p:nvPr/>
        </p:nvSpPr>
        <p:spPr>
          <a:xfrm>
            <a:off x="239411" y="131923"/>
            <a:ext cx="8182695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>
                <a:solidFill>
                  <a:srgbClr val="C00000"/>
                </a:solidFill>
              </a:rPr>
              <a:t>Database Structure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4F9CD-96F3-C5AD-7D79-7EEC9FA94778}"/>
              </a:ext>
            </a:extLst>
          </p:cNvPr>
          <p:cNvSpPr txBox="1"/>
          <p:nvPr/>
        </p:nvSpPr>
        <p:spPr>
          <a:xfrm>
            <a:off x="433137" y="1251284"/>
            <a:ext cx="112294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contains 5 interrelated tables: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patient details and demographic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doctor information and professional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room types and equipment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patient appointment and booking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treatment records, outcomes, duration, and waiting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Relationships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tables are connected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data integrity and establish proper relationships between the healthcare entities.</a:t>
            </a:r>
          </a:p>
        </p:txBody>
      </p:sp>
    </p:spTree>
    <p:extLst>
      <p:ext uri="{BB962C8B-B14F-4D97-AF65-F5344CB8AC3E}">
        <p14:creationId xmlns:p14="http://schemas.microsoft.com/office/powerpoint/2010/main" val="243502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6F14-E1DE-6B39-F76A-EF8CD8E8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8F3CB874-24BF-E36E-66E5-180B629F4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5131240F-AA47-13A0-381E-794F428D518C}"/>
              </a:ext>
            </a:extLst>
          </p:cNvPr>
          <p:cNvSpPr txBox="1">
            <a:spLocks/>
          </p:cNvSpPr>
          <p:nvPr/>
        </p:nvSpPr>
        <p:spPr>
          <a:xfrm>
            <a:off x="48126" y="115881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dirty="0">
                <a:solidFill>
                  <a:srgbClr val="C00000"/>
                </a:solidFill>
              </a:rPr>
              <a:t>ER Diagram</a:t>
            </a: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9959AC87-B37E-8D41-ED70-D7148A6B797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83029" y="772886"/>
            <a:ext cx="11684382" cy="558437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2086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7C01-3EE6-5B4D-FD27-7EDAB999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7D9D0379-95A1-6F80-3AA6-F94DAA6A8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34B8D000-51D4-3C4A-B307-DBB7F4F0B770}"/>
              </a:ext>
            </a:extLst>
          </p:cNvPr>
          <p:cNvSpPr txBox="1">
            <a:spLocks/>
          </p:cNvSpPr>
          <p:nvPr/>
        </p:nvSpPr>
        <p:spPr>
          <a:xfrm>
            <a:off x="0" y="215785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Key Analysis Questions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668F0BC-3018-554E-F415-E4AF29F85BAB}"/>
              </a:ext>
            </a:extLst>
          </p:cNvPr>
          <p:cNvSpPr txBox="1">
            <a:spLocks/>
          </p:cNvSpPr>
          <p:nvPr/>
        </p:nvSpPr>
        <p:spPr>
          <a:xfrm>
            <a:off x="144380" y="841640"/>
            <a:ext cx="5657706" cy="5287017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number of patients?</a:t>
            </a: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AE" sz="6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ounts</a:t>
            </a:r>
            <a:r>
              <a:rPr lang="en-AE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patient records available in the hospital database. </a:t>
            </a:r>
            <a:endParaRPr lang="en-AE" sz="6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16724C-BB75-3F60-AB82-25BCB7544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464" y="1850498"/>
            <a:ext cx="3899466" cy="1055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50F2EA-0F79-19A5-63DE-51E32CCF6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72" y="3499847"/>
            <a:ext cx="3019621" cy="743128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DD3A3D0-433D-F70E-C4EB-03F1D8D84E87}"/>
              </a:ext>
            </a:extLst>
          </p:cNvPr>
          <p:cNvSpPr txBox="1">
            <a:spLocks/>
          </p:cNvSpPr>
          <p:nvPr/>
        </p:nvSpPr>
        <p:spPr>
          <a:xfrm>
            <a:off x="5802086" y="841640"/>
            <a:ext cx="5935810" cy="537410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number of appointments?</a:t>
            </a: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the total appointments recorded in the database.</a:t>
            </a:r>
            <a:endParaRPr lang="en-AE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51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5100" b="1" dirty="0"/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/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DAB7EB-CAA6-E041-ADDE-D8426ABE9A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5510" y="2004880"/>
            <a:ext cx="4529471" cy="9016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6276E6-A5BB-4906-431E-1BF40421F4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8816" y="3387964"/>
            <a:ext cx="2342154" cy="85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8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DCFC-E2F8-B1D0-C3B0-57F4145A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2016FACB-2F04-7B9A-12E1-1758D1DA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67AA2F7-A6BD-130E-E7D3-275538E6EB10}"/>
              </a:ext>
            </a:extLst>
          </p:cNvPr>
          <p:cNvSpPr txBox="1">
            <a:spLocks/>
          </p:cNvSpPr>
          <p:nvPr/>
        </p:nvSpPr>
        <p:spPr>
          <a:xfrm>
            <a:off x="144380" y="754555"/>
            <a:ext cx="5694948" cy="5461187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estimated appointment value?</a:t>
            </a: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6600" dirty="0"/>
              <a:t>The combined estimated appointment value is approximately 14.33 million.</a:t>
            </a: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E" sz="6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90E0B0-775F-E27F-2984-02F120C3EBE9}"/>
              </a:ext>
            </a:extLst>
          </p:cNvPr>
          <p:cNvSpPr txBox="1">
            <a:spLocks/>
          </p:cNvSpPr>
          <p:nvPr/>
        </p:nvSpPr>
        <p:spPr>
          <a:xfrm>
            <a:off x="5923534" y="841640"/>
            <a:ext cx="6124085" cy="5374103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treatment duration?</a:t>
            </a:r>
          </a:p>
          <a:p>
            <a:pPr marL="114300" indent="0"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average treatment duration is approximately 38.72 minutes</a:t>
            </a:r>
            <a:r>
              <a:rPr lang="en-AE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E" sz="6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54F139-D2AE-DBE0-E762-CFD57E1FC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35629"/>
            <a:ext cx="5951619" cy="9222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4A5E9F-2884-0D0A-5BD6-9FF7C830C4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558" y="3485148"/>
            <a:ext cx="4390824" cy="9222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624A86-7A4F-1607-D05F-29DF905A96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00" y="2204855"/>
            <a:ext cx="5277853" cy="9233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89D9C84-5375-7B11-AE99-CD879A4314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019" y="3429000"/>
            <a:ext cx="3454286" cy="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5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9BD0-40A5-B430-460F-E4D96858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6F917BF4-CDF7-AE52-B457-1EA44D1D7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7EE227F8-910F-5995-407E-41D50DE06AFC}"/>
              </a:ext>
            </a:extLst>
          </p:cNvPr>
          <p:cNvSpPr txBox="1">
            <a:spLocks/>
          </p:cNvSpPr>
          <p:nvPr/>
        </p:nvSpPr>
        <p:spPr>
          <a:xfrm>
            <a:off x="0" y="11953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Patient and Appointment Demand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CB3507-F839-2DA2-3364-9FCD5B8686E4}"/>
              </a:ext>
            </a:extLst>
          </p:cNvPr>
          <p:cNvSpPr txBox="1">
            <a:spLocks/>
          </p:cNvSpPr>
          <p:nvPr/>
        </p:nvSpPr>
        <p:spPr>
          <a:xfrm>
            <a:off x="144379" y="841640"/>
            <a:ext cx="11790947" cy="5896827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highest appointment volume?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has the highest appointment demand, so hospital management may need to pay particular attention to capacity and scheduling for this location.</a:t>
            </a:r>
            <a:endParaRPr lang="en-A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3A5D1B-20D6-6F69-6CC6-AEADE47F0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897" y="1840240"/>
            <a:ext cx="10163882" cy="10954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10A6EF-7634-8AC7-525C-35741CEFB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897" y="3429000"/>
            <a:ext cx="6072990" cy="157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1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C59B-446D-863B-1852-DE724EF9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22CB4B6F-5CC2-F8DF-D002-2062C6CD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2730C2-5450-78DB-C79C-FEE5C801F842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622512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appointments across Service types and Priorities 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management understand not just which service is popular, but also the priority level associated with that service.</a:t>
            </a:r>
            <a:endParaRPr lang="en-AE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983C3B-8D0E-E7CA-25AA-35CF1A30A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45" y="1601647"/>
            <a:ext cx="9547854" cy="1175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CB743D-D609-535A-6326-28F8D4573A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45" y="3231038"/>
            <a:ext cx="7638844" cy="202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3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2178-4981-05DE-4517-9391E9CE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C8F9ACC-FB41-F2CD-8CB0-E35F533CB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1438DF-5891-316E-337B-4E4A2B5E3703}"/>
              </a:ext>
            </a:extLst>
          </p:cNvPr>
          <p:cNvSpPr txBox="1">
            <a:spLocks/>
          </p:cNvSpPr>
          <p:nvPr/>
        </p:nvSpPr>
        <p:spPr>
          <a:xfrm>
            <a:off x="144379" y="417096"/>
            <a:ext cx="11790947" cy="63213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appointment volume change over time?</a:t>
            </a:r>
          </a:p>
          <a:p>
            <a:pPr marL="114300" indent="0"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demand fluctuates from month to month, so hospital resources should be planned according to demand patterns rather than assuming constant demand.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A1949-58F9-C069-9C51-A943E7D19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5036" y="1359531"/>
            <a:ext cx="10220290" cy="16403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09BF4-6DA1-8EBA-7075-44874139C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36" y="3235607"/>
            <a:ext cx="5295364" cy="183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4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0EBF-8B1A-4451-50E9-0FC6DB8E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5DCC456D-2132-3960-F0C5-8F41A57F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27CADE7-0474-B171-92A6-A65B8B732941}"/>
              </a:ext>
            </a:extLst>
          </p:cNvPr>
          <p:cNvSpPr txBox="1">
            <a:spLocks/>
          </p:cNvSpPr>
          <p:nvPr/>
        </p:nvSpPr>
        <p:spPr>
          <a:xfrm>
            <a:off x="200526" y="318916"/>
            <a:ext cx="11790947" cy="6338558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booking channels contribute most to appointment demand?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inner SELECT calculates the total number of appointments, and the outer query uses that value to calculate each booking channel's percentage contribution.</a:t>
            </a:r>
          </a:p>
          <a:p>
            <a:pPr algn="just"/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slide's displayed percentage values are intended to show each channel's contribution to overall appointment demand.</a:t>
            </a:r>
            <a:endParaRPr lang="en-AE" sz="6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CB20D-6F27-130A-6633-A49554AFE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748" y="1432067"/>
            <a:ext cx="10259725" cy="143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40FA16-090D-826E-68D7-D617102FD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46" y="3365300"/>
            <a:ext cx="7967169" cy="143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9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0375-DD0E-3AFC-6723-3CE6BA57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A3574171-09AC-4A1E-A132-8AEBFED46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19AA4904-DADF-D79B-7E37-0FE4038623E0}"/>
              </a:ext>
            </a:extLst>
          </p:cNvPr>
          <p:cNvSpPr txBox="1">
            <a:spLocks/>
          </p:cNvSpPr>
          <p:nvPr/>
        </p:nvSpPr>
        <p:spPr>
          <a:xfrm>
            <a:off x="0" y="11953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Patient and Appointment Behaviour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2865804-E21E-6B03-46D1-4094DA000D7E}"/>
              </a:ext>
            </a:extLst>
          </p:cNvPr>
          <p:cNvSpPr txBox="1">
            <a:spLocks/>
          </p:cNvSpPr>
          <p:nvPr/>
        </p:nvSpPr>
        <p:spPr>
          <a:xfrm>
            <a:off x="200526" y="850232"/>
            <a:ext cx="11790947" cy="5365511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patients have the highest number of appointments?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identifies high-frequency patients. These patients may require more frequent care or follow-up</a:t>
            </a:r>
            <a:endParaRPr lang="en-A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D6D4DD-E2C3-8A6C-5007-5083B4052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15" y="1666731"/>
            <a:ext cx="10262615" cy="1443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F858B5-DF25-ED00-7460-10307C903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501" y="3429000"/>
            <a:ext cx="9844445" cy="176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43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DA6A-19C3-D4DD-4B3E-A1E9FE0F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00534598-BBAD-3E13-08B2-8EB581771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7AAC33-B79A-0E9B-01D6-43ABAF7D0C11}"/>
              </a:ext>
            </a:extLst>
          </p:cNvPr>
          <p:cNvSpPr txBox="1">
            <a:spLocks/>
          </p:cNvSpPr>
          <p:nvPr/>
        </p:nvSpPr>
        <p:spPr>
          <a:xfrm>
            <a:off x="144379" y="417096"/>
            <a:ext cx="11790947" cy="63213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patients have the highest cumulative estimated appointment value?</a:t>
            </a: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total estimated appointment value for each patient and identifies the highest-value patients</a:t>
            </a:r>
            <a:r>
              <a:rPr lang="en-IN" sz="2400" dirty="0"/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18B3BD-0B08-5B62-AF54-50FDBDE4C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73" y="1049040"/>
            <a:ext cx="10405253" cy="168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F93D4F-D8AD-DED0-F5E8-D8028A88E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09" y="3332748"/>
            <a:ext cx="9881579" cy="168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9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153AE-E75C-5C20-AA27-345ABA567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1EDBE4DE-4A5E-054E-2402-94F4CD93A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A8BC01-1BE3-FCA3-5517-B3C445C610F4}"/>
              </a:ext>
            </a:extLst>
          </p:cNvPr>
          <p:cNvSpPr txBox="1">
            <a:spLocks/>
          </p:cNvSpPr>
          <p:nvPr/>
        </p:nvSpPr>
        <p:spPr>
          <a:xfrm>
            <a:off x="144379" y="417096"/>
            <a:ext cx="11790947" cy="63213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General, Corporate, and Insurance patients differ?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patients represent the highest patient and appointment volume in this dataset.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701CF-0DBB-5A7E-F1D5-3AF1006F8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27" y="1138989"/>
            <a:ext cx="9691552" cy="1796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24B542-B7B2-F6AD-8C55-3FD3F3FE5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27" y="3317011"/>
            <a:ext cx="7060647" cy="15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09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4F44-B034-E17B-3216-24FF636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FE288661-4F3D-9973-3258-6A0AA57C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9BA2993B-C954-20F5-08E3-7019B149DD9B}"/>
              </a:ext>
            </a:extLst>
          </p:cNvPr>
          <p:cNvSpPr txBox="1">
            <a:spLocks/>
          </p:cNvSpPr>
          <p:nvPr/>
        </p:nvSpPr>
        <p:spPr>
          <a:xfrm>
            <a:off x="112295" y="17646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Treatment Performance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7255EEB-C850-9F00-F123-6A2868997D36}"/>
              </a:ext>
            </a:extLst>
          </p:cNvPr>
          <p:cNvSpPr txBox="1">
            <a:spLocks/>
          </p:cNvSpPr>
          <p:nvPr/>
        </p:nvSpPr>
        <p:spPr>
          <a:xfrm>
            <a:off x="144379" y="724610"/>
            <a:ext cx="11790947" cy="549113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treatment duration and waiting time vary by status?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average treatment duration and waiting time for each treatment status.</a:t>
            </a:r>
          </a:p>
          <a:p>
            <a:pPr algn="just"/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AC2A04-F9F0-397F-39EE-4F6B401BC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966" y="1503476"/>
            <a:ext cx="9857181" cy="1432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AA81CD-3A1E-58B8-9CD6-090CEC16B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630" y="3280611"/>
            <a:ext cx="7819834" cy="172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53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F532-690C-9785-2874-9341C8EA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723C5D99-EEC9-A23E-725D-32855649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FEC520-3AB2-F58D-9E70-95E11F4883CD}"/>
              </a:ext>
            </a:extLst>
          </p:cNvPr>
          <p:cNvSpPr txBox="1">
            <a:spLocks/>
          </p:cNvSpPr>
          <p:nvPr/>
        </p:nvSpPr>
        <p:spPr>
          <a:xfrm>
            <a:off x="144379" y="497306"/>
            <a:ext cx="11790947" cy="57184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highest rate of problematic outcomes?</a:t>
            </a:r>
          </a:p>
          <a:p>
            <a:pPr marL="0" indent="0"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cities with higher numbers of cancellations, no-shows, and rescheduled treatments.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FB566-81B7-BD2C-17E8-1C6047CA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586" y="1406500"/>
            <a:ext cx="9953688" cy="1529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8F5F8F-841D-8AEF-8A3C-65AFB96ED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754" y="3092580"/>
            <a:ext cx="9063351" cy="215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09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5EBBD-3FDE-815D-70A5-FEDB865F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DC27F75-7FB5-C258-57A3-27820040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156EC5-2C44-8DB3-9E8C-45A3ECB0850B}"/>
              </a:ext>
            </a:extLst>
          </p:cNvPr>
          <p:cNvSpPr txBox="1">
            <a:spLocks/>
          </p:cNvSpPr>
          <p:nvPr/>
        </p:nvSpPr>
        <p:spPr>
          <a:xfrm>
            <a:off x="144379" y="497306"/>
            <a:ext cx="11790947" cy="57184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treatment performance change over time?</a:t>
            </a: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treatment outcomes by month to identify performance trends over time.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156D36-1636-4FF3-E0E7-3AD58E24B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335" y="1209487"/>
            <a:ext cx="10155444" cy="1325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BA8250-07E3-DF8A-D198-7B63851DA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39" y="2911246"/>
            <a:ext cx="5487477" cy="228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40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344C-7B99-3B9A-EFA9-8772B485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43EA57B-D94C-60A7-D419-294BC772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101E328-A254-8B51-22CB-0A237ACB2B7D}"/>
              </a:ext>
            </a:extLst>
          </p:cNvPr>
          <p:cNvSpPr txBox="1">
            <a:spLocks/>
          </p:cNvSpPr>
          <p:nvPr/>
        </p:nvSpPr>
        <p:spPr>
          <a:xfrm>
            <a:off x="144379" y="930442"/>
            <a:ext cx="11790947" cy="52853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doctors handled the highest number of treatments?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treatments handled by each doctor to compare their workloads</a:t>
            </a:r>
            <a:r>
              <a:rPr lang="en-IN" sz="2400" dirty="0"/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10;p4">
            <a:extLst>
              <a:ext uri="{FF2B5EF4-FFF2-40B4-BE49-F238E27FC236}">
                <a16:creationId xmlns:a16="http://schemas.microsoft.com/office/drawing/2014/main" id="{31CDD3E9-8338-46F0-7B80-96AB459BC3E1}"/>
              </a:ext>
            </a:extLst>
          </p:cNvPr>
          <p:cNvSpPr txBox="1">
            <a:spLocks/>
          </p:cNvSpPr>
          <p:nvPr/>
        </p:nvSpPr>
        <p:spPr>
          <a:xfrm>
            <a:off x="112295" y="17646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Doctor and Room Performance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8DEE3-4267-261F-8CA0-68A644C75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03" y="1515285"/>
            <a:ext cx="10077013" cy="14204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2328A4-268B-342F-AA7D-49F0DE080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03" y="3366644"/>
            <a:ext cx="6821687" cy="171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21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3AF2-88F5-393E-A5EB-87F67A2F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FE4BAB15-9142-7BFB-C9A7-6BA5A49F8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F2F78DC-0B35-C658-C6E4-C3626F850CCF}"/>
              </a:ext>
            </a:extLst>
          </p:cNvPr>
          <p:cNvSpPr txBox="1">
            <a:spLocks/>
          </p:cNvSpPr>
          <p:nvPr/>
        </p:nvSpPr>
        <p:spPr>
          <a:xfrm>
            <a:off x="144379" y="593558"/>
            <a:ext cx="11790947" cy="56221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doctor performance differ across treatment outcomes?</a:t>
            </a: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treatment outcomes handled by each doctor.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D9660-CA13-4EA8-E81B-1A03FB546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07" y="1307860"/>
            <a:ext cx="10444019" cy="1483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34F82B-B51F-9966-1841-F6E9219C7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045" y="3009221"/>
            <a:ext cx="6671766" cy="224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1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A909E-81F7-54F3-275C-38470532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1415C27F-269F-89E6-18EC-E7A10F82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B9D3DEE-21C7-3DDD-E4F7-6A46A6B50D8C}"/>
              </a:ext>
            </a:extLst>
          </p:cNvPr>
          <p:cNvSpPr txBox="1">
            <a:spLocks/>
          </p:cNvSpPr>
          <p:nvPr/>
        </p:nvSpPr>
        <p:spPr>
          <a:xfrm>
            <a:off x="144379" y="385012"/>
            <a:ext cx="11790947" cy="583073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room types are used most frequently?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rooms have the highest treatment usage in the displayed results, followed by consultation rooms.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141AA-8E50-996A-8BD3-1A1D826F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84" y="1353036"/>
            <a:ext cx="9129231" cy="1069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B025C-716D-E419-F58D-4876261FA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552" y="2811403"/>
            <a:ext cx="4279448" cy="203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59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206B-65C1-5BA4-9EC0-1F3F3309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ABE38D7B-0E83-D50E-37C2-D8DED2588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46BEBD-D11E-D696-2FA0-B6E69FC886C5}"/>
              </a:ext>
            </a:extLst>
          </p:cNvPr>
          <p:cNvSpPr txBox="1">
            <a:spLocks/>
          </p:cNvSpPr>
          <p:nvPr/>
        </p:nvSpPr>
        <p:spPr>
          <a:xfrm>
            <a:off x="144379" y="385012"/>
            <a:ext cx="11790947" cy="583073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equipment utilized?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hospital can identify which equipment categories are used most frequently, which can support maintenance, scheduling and resource allocation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2E66E-F915-0FF9-0A34-7A3CBFC4D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038" y="1109229"/>
            <a:ext cx="9518762" cy="12892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025D0-F004-A3F7-E2B8-209B12D7B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363" y="2990099"/>
            <a:ext cx="5745132" cy="18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94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8893-72B1-4411-F76F-1F5EF10A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1EBD16C8-8E79-9B83-8DE6-288A445A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3B80667F-1F6B-4349-C0CA-0D62150F3F4F}"/>
              </a:ext>
            </a:extLst>
          </p:cNvPr>
          <p:cNvSpPr txBox="1">
            <a:spLocks/>
          </p:cNvSpPr>
          <p:nvPr/>
        </p:nvSpPr>
        <p:spPr>
          <a:xfrm>
            <a:off x="112295" y="17646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Treatments and Appointment Problems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613F3BA-4A00-F497-9F19-47BDDFFE6106}"/>
              </a:ext>
            </a:extLst>
          </p:cNvPr>
          <p:cNvSpPr txBox="1">
            <a:spLocks/>
          </p:cNvSpPr>
          <p:nvPr/>
        </p:nvSpPr>
        <p:spPr>
          <a:xfrm>
            <a:off x="144379" y="930442"/>
            <a:ext cx="11790947" cy="52853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appointments required multiple treatment attempts?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reports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appointments required multiple treatment attempts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05FF0E-27CB-ED19-3366-A1B255256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598" y="2060899"/>
            <a:ext cx="10303844" cy="716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FABBE7-6D37-E34F-5E7A-4B5AA3D43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621" y="3428999"/>
            <a:ext cx="6623054" cy="10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26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822B-A992-56D5-9F35-EB1F41D2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134C22F-0630-FF0B-3A01-771B20CD5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BFBDEC-9490-6849-DFE7-C6BB07934D7A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570239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treatment statuses occur most frequently?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reports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appointments required multiple treatment attempts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B1333E-149B-94F8-2406-A250AC934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87" y="1228539"/>
            <a:ext cx="8431377" cy="1434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DE51BA-F5E1-B44B-334A-F0CECA6E2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898" y="3159909"/>
            <a:ext cx="4228344" cy="224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31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2618-00E1-2DBE-1E03-182A2F14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926C137D-E5B3-2E07-D5DA-7EF0214B4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2B7914-707E-6994-8CAA-6AB5A8F982A8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570239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patterns exist among problematic treatment statuses?</a:t>
            </a: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Rescheduled treatments are the most frequent problematic category in the displayed results, while cancelled treatments show the highest average waiting time among these three categories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05621-21A2-7621-772E-874D44216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668" y="1090863"/>
            <a:ext cx="9790932" cy="1732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C3C0D5-6C00-B528-730E-1886B447C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112" y="3155525"/>
            <a:ext cx="7828461" cy="136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70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03C1-98AA-E1E8-EF5E-8B355DC6D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0049E216-3F99-2397-2655-43F92AD7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B0A746E-35AA-479B-61EE-361E89DACA1B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570239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highest number of treatment problems?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has the highest number of problematic treatment records in the displayed output, so it may deserve additional operational investigation.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AEC90F-014D-F737-22F0-FEAC8423D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24" y="1335981"/>
            <a:ext cx="9257402" cy="1583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88DD49-3EA7-06BA-19B3-FCCC11E6E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228" y="3187510"/>
            <a:ext cx="6385865" cy="215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14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9FEE-2801-BDDF-70EA-A1A1AAE4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E798491A-42AF-7C01-D4A3-CEDB02F8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3D452F3-CF41-FEB7-A53B-BD2D793C6F19}"/>
              </a:ext>
            </a:extLst>
          </p:cNvPr>
          <p:cNvSpPr txBox="1">
            <a:spLocks/>
          </p:cNvSpPr>
          <p:nvPr/>
        </p:nvSpPr>
        <p:spPr>
          <a:xfrm>
            <a:off x="144379" y="529390"/>
            <a:ext cx="11790947" cy="570239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appointment priority associated with treatment outcomes?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treatment outcomes across different appointment priority levels.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3848D0-B6E9-6F86-F41E-E744EDA95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42" y="3364546"/>
            <a:ext cx="6170421" cy="1977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97D003-A321-3B8F-B0BE-1DE59ED414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00" y="1453180"/>
            <a:ext cx="9928858" cy="134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92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F2949-A4A8-9337-BE6D-C4947299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C3D0734A-B5A7-8008-A723-1DD147109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C61DB8EA-D554-7508-52FC-8099888776E3}"/>
              </a:ext>
            </a:extLst>
          </p:cNvPr>
          <p:cNvSpPr txBox="1">
            <a:spLocks/>
          </p:cNvSpPr>
          <p:nvPr/>
        </p:nvSpPr>
        <p:spPr>
          <a:xfrm>
            <a:off x="224589" y="144379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Key Findings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CBF86-25DF-6F21-9B83-1F4CA5AF04A0}"/>
              </a:ext>
            </a:extLst>
          </p:cNvPr>
          <p:cNvSpPr txBox="1"/>
          <p:nvPr/>
        </p:nvSpPr>
        <p:spPr>
          <a:xfrm>
            <a:off x="368967" y="1219200"/>
            <a:ext cx="1132572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recorded the highest appointment volume.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demand varied across services, priorities, and months.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patients generated the highest patient and appointment volume.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treatments were the most common treatment outcome.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workload and room utilization varied significantly.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appointments required multiple treatment attempts.</a:t>
            </a:r>
          </a:p>
        </p:txBody>
      </p:sp>
    </p:spTree>
    <p:extLst>
      <p:ext uri="{BB962C8B-B14F-4D97-AF65-F5344CB8AC3E}">
        <p14:creationId xmlns:p14="http://schemas.microsoft.com/office/powerpoint/2010/main" val="3308095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72374-3267-0609-CE18-22FA685D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92304356-FA7D-4BC6-9088-4F2FF40FF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83C89BD0-0601-D440-BD98-B49C14592F3B}"/>
              </a:ext>
            </a:extLst>
          </p:cNvPr>
          <p:cNvSpPr txBox="1">
            <a:spLocks/>
          </p:cNvSpPr>
          <p:nvPr/>
        </p:nvSpPr>
        <p:spPr>
          <a:xfrm>
            <a:off x="224589" y="144379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Business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7DA0B-0776-01A6-BA9E-D81BB8A29A16}"/>
              </a:ext>
            </a:extLst>
          </p:cNvPr>
          <p:cNvSpPr txBox="1"/>
          <p:nvPr/>
        </p:nvSpPr>
        <p:spPr>
          <a:xfrm>
            <a:off x="328863" y="866460"/>
            <a:ext cx="115342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scheduling processes to reduce rescheduling and appointment disruptions.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operational resources on cities with higher appointment demand and treatment problems.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many appointments may require closer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doctor workloads -  If certain doctors have significantly higher treatment counts, management can investigate workload distribution.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room allocation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equipments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management of cancellations, no-shows, and multiple treatment attempts.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priority-based treatment outcomes to improve operational planning.</a:t>
            </a:r>
          </a:p>
        </p:txBody>
      </p:sp>
    </p:spTree>
    <p:extLst>
      <p:ext uri="{BB962C8B-B14F-4D97-AF65-F5344CB8AC3E}">
        <p14:creationId xmlns:p14="http://schemas.microsoft.com/office/powerpoint/2010/main" val="3245165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6D73C-431C-764C-EB1B-F3A79AEE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D8E1D11E-2BD0-A91D-F540-E194880EB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C186EF8C-9127-7D7F-5A30-1FA19AFF96EC}"/>
              </a:ext>
            </a:extLst>
          </p:cNvPr>
          <p:cNvSpPr txBox="1">
            <a:spLocks/>
          </p:cNvSpPr>
          <p:nvPr/>
        </p:nvSpPr>
        <p:spPr>
          <a:xfrm>
            <a:off x="224589" y="144379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Challenges/Experience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820BE-77C0-6F33-4BB7-5000B2B68F9E}"/>
              </a:ext>
            </a:extLst>
          </p:cNvPr>
          <p:cNvSpPr txBox="1"/>
          <p:nvPr/>
        </p:nvSpPr>
        <p:spPr>
          <a:xfrm>
            <a:off x="328863" y="1001135"/>
            <a:ext cx="115342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proper relationships between the five tables using Primary Keys and Foreign Keys.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and validating CSV data while maintaining data integrity and avoiding missing records.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project, I improved my understanding of SQL JOINs, GROUP BY, aggregate functions, subqueries, date functions, and analytical thinking.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10;p4">
            <a:extLst>
              <a:ext uri="{FF2B5EF4-FFF2-40B4-BE49-F238E27FC236}">
                <a16:creationId xmlns:a16="http://schemas.microsoft.com/office/drawing/2014/main" id="{4CFBE61A-A65E-6CA4-2567-62768175C423}"/>
              </a:ext>
            </a:extLst>
          </p:cNvPr>
          <p:cNvSpPr txBox="1">
            <a:spLocks/>
          </p:cNvSpPr>
          <p:nvPr/>
        </p:nvSpPr>
        <p:spPr>
          <a:xfrm>
            <a:off x="224588" y="3372660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333A6-BD48-2C13-9D18-12DFAA616339}"/>
              </a:ext>
            </a:extLst>
          </p:cNvPr>
          <p:cNvSpPr txBox="1"/>
          <p:nvPr/>
        </p:nvSpPr>
        <p:spPr>
          <a:xfrm>
            <a:off x="609600" y="4190447"/>
            <a:ext cx="1094071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implemented a relational database for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CarePlus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using MySQL.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appointments, patient behaviour, treatment performance, doctor workload, and operational problems using SQL.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helped identify important patterns such as high appointment demand in specific cities, differences in resource utilization, treatment outcomes, and multiple treatment attempts.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26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pt_">
            <a:hlinkClick r:id="" action="ppaction://media"/>
            <a:extLst>
              <a:ext uri="{FF2B5EF4-FFF2-40B4-BE49-F238E27FC236}">
                <a16:creationId xmlns:a16="http://schemas.microsoft.com/office/drawing/2014/main" id="{3C98FBD8-A604-DA14-9833-CFD7A35AC0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7189"/>
            <a:ext cx="12192000" cy="687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7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96"/>
    </mc:Choice>
    <mc:Fallback xmlns="">
      <p:transition spd="slow" advTm="17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1142</Words>
  <Application>Microsoft Office PowerPoint</Application>
  <PresentationFormat>Widescreen</PresentationFormat>
  <Paragraphs>269</Paragraphs>
  <Slides>30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Black</vt:lpstr>
      <vt:lpstr>Calibri</vt:lpstr>
      <vt:lpstr>Grandview Display</vt:lpstr>
      <vt:lpstr>Segoe UI Variable Display Semib</vt:lpstr>
      <vt:lpstr>Times New Roman</vt:lpstr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Panchumarthi</dc:creator>
  <cp:lastModifiedBy>Prasanna Panchumarthi</cp:lastModifiedBy>
  <cp:revision>5</cp:revision>
  <dcterms:created xsi:type="dcterms:W3CDTF">2026-08-27T18:20:26Z</dcterms:created>
  <dcterms:modified xsi:type="dcterms:W3CDTF">2026-09-09T14:46:16Z</dcterms:modified>
</cp:coreProperties>
</file>